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011680"/>
            <a:ext cx="1371600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5400" b="1">
                <a:solidFill>
                  <a:srgbClr val="F8FAFC"/>
                </a:solidFill>
                <a:latin typeface="Arial"/>
              </a:defRPr>
            </a:pPr>
            <a:r>
              <a:t>MLOps Fraud Pipeline</a:t>
            </a:r>
          </a:p>
          <a:p>
            <a:pPr>
              <a:spcAft>
                <a:spcPts val="2000"/>
              </a:spcAft>
              <a:defRPr sz="2000">
                <a:solidFill>
                  <a:srgbClr val="38BDF8"/>
                </a:solidFill>
                <a:latin typeface="Arial"/>
              </a:defRPr>
            </a:pPr>
            <a:r>
              <a:t>Real-Time Anomaly Detection, DevSecOps CI/CD &amp; Cloud Infrastructure</a:t>
            </a:r>
          </a:p>
          <a:p>
            <a:pPr>
              <a:defRPr sz="1400">
                <a:solidFill>
                  <a:srgbClr val="94A3B8"/>
                </a:solidFill>
                <a:latin typeface="Arial"/>
              </a:defRPr>
            </a:pPr>
            <a:r>
              <a:t>Project Overview &amp; End-to-End Enterprise Deployment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MLOPS FRAUD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End-to-End System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45920"/>
            <a:ext cx="10515600" cy="7315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600" b="1">
                <a:solidFill>
                  <a:srgbClr val="38BDF8"/>
                </a:solidFill>
                <a:latin typeface="Arial"/>
              </a:defRPr>
            </a:pPr>
            <a:r>
              <a:t>1. Data &amp; ML Model</a:t>
            </a:r>
          </a:p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Isolation Forest trained on transaction amounts &amp; geographical distances.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606040"/>
            <a:ext cx="10515600" cy="7315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600" b="1">
                <a:solidFill>
                  <a:srgbClr val="F8FAFC"/>
                </a:solidFill>
                <a:latin typeface="Arial"/>
              </a:defRPr>
            </a:pPr>
            <a:r>
              <a:t>2. FastAPI Server</a:t>
            </a:r>
          </a:p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Exposes /predict (low latency) &amp; /metrics (monitoring).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566160"/>
            <a:ext cx="10515600" cy="7315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600" b="1">
                <a:solidFill>
                  <a:srgbClr val="38BDF8"/>
                </a:solidFill>
                <a:latin typeface="Arial"/>
              </a:defRPr>
            </a:pPr>
            <a:r>
              <a:t>3. Jenkins CI/CD</a:t>
            </a:r>
          </a:p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Runs Bandit security scans, Pytest checks, Docker build &amp; K8s rollout.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526280"/>
            <a:ext cx="10515600" cy="7315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600" b="1">
                <a:solidFill>
                  <a:srgbClr val="F8FAFC"/>
                </a:solidFill>
                <a:latin typeface="Arial"/>
              </a:defRPr>
            </a:pPr>
            <a:r>
              <a:t>4. Kubernetes Cluster</a:t>
            </a:r>
          </a:p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Minikube orchestrates API instances with scaling via HPA.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5486400"/>
            <a:ext cx="10515600" cy="7315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600" b="1">
                <a:solidFill>
                  <a:srgbClr val="38BDF8"/>
                </a:solidFill>
                <a:latin typeface="Arial"/>
              </a:defRPr>
            </a:pPr>
            <a:r>
              <a:t>5. Telemetry System</a:t>
            </a:r>
          </a:p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Prometheus scrapes metrics; Grafana displays live dashboards.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MLOPS FRAUD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Machine Learning Anomaly Detection Engine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45920"/>
            <a:ext cx="5029200" cy="4389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 algn="ctr">
              <a:spcAft>
                <a:spcPts val="1500"/>
              </a:spcAft>
              <a:defRPr sz="2200" b="1">
                <a:solidFill>
                  <a:srgbClr val="38BDF8"/>
                </a:solidFill>
                <a:latin typeface="Arial"/>
              </a:defRPr>
            </a:pPr>
            <a:r>
              <a:t>Isolation Forest Core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Unsupervised Learning: Doesn't require pre-labeled fraud history to detect anomalies.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Algorithmic Logic: Isolates anomalies by randomly selecting a feature and split value. Outliers require fewer splits to isolate.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Hyperparameters: Set at 200 estimators with 4% contamination targeting standard fraud rates.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029200" cy="4389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 algn="ctr">
              <a:spcAft>
                <a:spcPts val="1500"/>
              </a:spcAft>
              <a:defRPr sz="2200" b="1">
                <a:solidFill>
                  <a:srgbClr val="34D399"/>
                </a:solidFill>
                <a:latin typeface="Arial"/>
              </a:defRPr>
            </a:pPr>
            <a:r>
              <a:t>Feature &amp; Preprocessing Pipeline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Primary Features Evaluated:</a:t>
            </a:r>
            <a:br/>
            <a:r>
              <a:t>  1. Transaction Amount (USD)</a:t>
            </a:r>
            <a:br/>
            <a:r>
              <a:t>  2. Geographical Distance from Home (KM)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StandardScaler Norm: Equalizes feature variance. Prevents transaction amount from dominating geographic distance splits.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Fail-Safe Loading: API validates artifact types at startup. Rejects corrupt files to prevent invalid predictions.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MLOPS FRAUD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Jenkins DevSecOps CI/CD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2468880" cy="4114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182880" rIns="182880"/>
          <a:lstStyle/>
          <a:p>
            <a:pPr algn="ctr">
              <a:spcAft>
                <a:spcPts val="500"/>
              </a:spcAft>
              <a:defRPr sz="1200" b="1">
                <a:solidFill>
                  <a:srgbClr val="38BDF8"/>
                </a:solidFill>
                <a:latin typeface="Arial"/>
              </a:defRPr>
            </a:pPr>
            <a:r>
              <a:t>Stage 01</a:t>
            </a:r>
          </a:p>
          <a:p>
            <a:pPr>
              <a:spcAft>
                <a:spcPts val="200"/>
              </a:spcAft>
              <a:defRPr sz="2000" b="1">
                <a:solidFill>
                  <a:srgbClr val="F8FAFC"/>
                </a:solidFill>
                <a:latin typeface="Arial"/>
              </a:defRPr>
            </a:pPr>
            <a:r>
              <a:t>Static Scan</a:t>
            </a:r>
          </a:p>
          <a:p>
            <a:pPr>
              <a:spcAft>
                <a:spcPts val="1500"/>
              </a:spcAft>
              <a:defRPr sz="1100" b="1">
                <a:solidFill>
                  <a:srgbClr val="34D399"/>
                </a:solidFill>
                <a:latin typeface="Arial"/>
              </a:defRPr>
            </a:pPr>
            <a:r>
              <a:t>Bandit SAST</a:t>
            </a:r>
          </a:p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Gated: Fails build automatically if HIGH severity vulnerabilities are detected.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828800"/>
            <a:ext cx="2468880" cy="4114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182880" rIns="182880"/>
          <a:lstStyle/>
          <a:p>
            <a:pPr algn="ctr">
              <a:spcAft>
                <a:spcPts val="500"/>
              </a:spcAft>
              <a:defRPr sz="1200" b="1">
                <a:solidFill>
                  <a:srgbClr val="38BDF8"/>
                </a:solidFill>
                <a:latin typeface="Arial"/>
              </a:defRPr>
            </a:pPr>
            <a:r>
              <a:t>Stage 02</a:t>
            </a:r>
          </a:p>
          <a:p>
            <a:pPr>
              <a:spcAft>
                <a:spcPts val="200"/>
              </a:spcAft>
              <a:defRPr sz="2000" b="1">
                <a:solidFill>
                  <a:srgbClr val="F8FAFC"/>
                </a:solidFill>
                <a:latin typeface="Arial"/>
              </a:defRPr>
            </a:pPr>
            <a:r>
              <a:t>Unit Tests</a:t>
            </a:r>
          </a:p>
          <a:p>
            <a:pPr>
              <a:spcAft>
                <a:spcPts val="1500"/>
              </a:spcAft>
              <a:defRPr sz="1100" b="1">
                <a:solidFill>
                  <a:srgbClr val="34D399"/>
                </a:solidFill>
                <a:latin typeface="Arial"/>
              </a:defRPr>
            </a:pPr>
            <a:r>
              <a:t>Pytest Suite</a:t>
            </a:r>
          </a:p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Executes 30+ tests verifying health endpoints, payloads, and API logic.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828800"/>
            <a:ext cx="2468880" cy="4114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182880" rIns="182880"/>
          <a:lstStyle/>
          <a:p>
            <a:pPr algn="ctr">
              <a:spcAft>
                <a:spcPts val="500"/>
              </a:spcAft>
              <a:defRPr sz="1200" b="1">
                <a:solidFill>
                  <a:srgbClr val="38BDF8"/>
                </a:solidFill>
                <a:latin typeface="Arial"/>
              </a:defRPr>
            </a:pPr>
            <a:r>
              <a:t>Stage 03</a:t>
            </a:r>
          </a:p>
          <a:p>
            <a:pPr>
              <a:spcAft>
                <a:spcPts val="200"/>
              </a:spcAft>
              <a:defRPr sz="2000" b="1">
                <a:solidFill>
                  <a:srgbClr val="F8FAFC"/>
                </a:solidFill>
                <a:latin typeface="Arial"/>
              </a:defRPr>
            </a:pPr>
            <a:r>
              <a:t>Lean Build</a:t>
            </a:r>
          </a:p>
          <a:p>
            <a:pPr>
              <a:spcAft>
                <a:spcPts val="1500"/>
              </a:spcAft>
              <a:defRPr sz="1100" b="1">
                <a:solidFill>
                  <a:srgbClr val="34D399"/>
                </a:solidFill>
                <a:latin typeface="Arial"/>
              </a:defRPr>
            </a:pPr>
            <a:r>
              <a:t>Docker Multi-Stage</a:t>
            </a:r>
          </a:p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Separates build &amp; runtime environments. Reduces final size to ~200MB.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78240" y="1828800"/>
            <a:ext cx="2468880" cy="4114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182880" rIns="182880"/>
          <a:lstStyle/>
          <a:p>
            <a:pPr algn="ctr">
              <a:spcAft>
                <a:spcPts val="500"/>
              </a:spcAft>
              <a:defRPr sz="1200" b="1">
                <a:solidFill>
                  <a:srgbClr val="38BDF8"/>
                </a:solidFill>
                <a:latin typeface="Arial"/>
              </a:defRPr>
            </a:pPr>
            <a:r>
              <a:t>Stage 04</a:t>
            </a:r>
          </a:p>
          <a:p>
            <a:pPr>
              <a:spcAft>
                <a:spcPts val="200"/>
              </a:spcAft>
              <a:defRPr sz="2000" b="1">
                <a:solidFill>
                  <a:srgbClr val="F8FAFC"/>
                </a:solidFill>
                <a:latin typeface="Arial"/>
              </a:defRPr>
            </a:pPr>
            <a:r>
              <a:t>K8s Rollout</a:t>
            </a:r>
          </a:p>
          <a:p>
            <a:pPr>
              <a:spcAft>
                <a:spcPts val="1500"/>
              </a:spcAft>
              <a:defRPr sz="1100" b="1">
                <a:solidFill>
                  <a:srgbClr val="34D399"/>
                </a:solidFill>
                <a:latin typeface="Arial"/>
              </a:defRPr>
            </a:pPr>
            <a:r>
              <a:t>Kubectl / HPA</a:t>
            </a:r>
          </a:p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Applies deployment.yaml to cluster. Triggers rolling updates with zero-downtime.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MLOPS FRAUD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Kubernetes Scalability &amp; Governance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45920"/>
            <a:ext cx="10515600" cy="1005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sz="1600" b="1">
                <a:solidFill>
                  <a:srgbClr val="38BDF8"/>
                </a:solidFill>
                <a:latin typeface="Arial"/>
              </a:defRPr>
            </a:pPr>
            <a:r>
              <a:t>Self-Healing Readiness &amp; Liveness Probes</a:t>
            </a:r>
          </a:p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Kubelet polls endpoints continuously. Automatically terminates and spawns pods if the model or ASGI process locks up.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788920"/>
            <a:ext cx="10515600" cy="1005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sz="1600" b="1">
                <a:solidFill>
                  <a:srgbClr val="F8FAFC"/>
                </a:solidFill>
                <a:latin typeface="Arial"/>
              </a:defRPr>
            </a:pPr>
            <a:r>
              <a:t>Horizontal Pod Autoscaler (HPA)</a:t>
            </a:r>
          </a:p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Scales pods dynamically from 2 to 5 instances if average CPU exceeds 70% or memory exceeds 80% utilization.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931920"/>
            <a:ext cx="10515600" cy="1005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sz="1600" b="1">
                <a:solidFill>
                  <a:srgbClr val="38BDF8"/>
                </a:solidFill>
                <a:latin typeface="Arial"/>
              </a:defRPr>
            </a:pPr>
            <a:r>
              <a:t>Zero-Downtime Rolling Updates</a:t>
            </a:r>
          </a:p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Configured with maxUnavailable=0 and maxSurge=1. Ensures older instances serve predictions until new containers successfully pass readiness checks.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5074920"/>
            <a:ext cx="10515600" cy="1005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sz="1600" b="1">
                <a:solidFill>
                  <a:srgbClr val="F8FAFC"/>
                </a:solidFill>
                <a:latin typeface="Arial"/>
              </a:defRPr>
            </a:pPr>
            <a:r>
              <a:t>NodePort Access</a:t>
            </a:r>
          </a:p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Exposes stable Port 30800 on the node IP, routing incoming traffic reliably to active backend pods.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MLOPS FRAUD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Telemetry Collection &amp; Real-Time Monitoring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45920"/>
            <a:ext cx="5029200" cy="4389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 algn="ctr">
              <a:spcAft>
                <a:spcPts val="1500"/>
              </a:spcAft>
              <a:defRPr sz="2200" b="1">
                <a:solidFill>
                  <a:srgbClr val="38BDF8"/>
                </a:solidFill>
                <a:latin typeface="Arial"/>
              </a:defRPr>
            </a:pPr>
            <a:r>
              <a:t>Prometheus Scraper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Real-Time Scraping: Pulls metrics dynamically from FastAPI's /metrics path every 10–15 seconds.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Resource Metrics tracked:</a:t>
            </a:r>
            <a:br/>
            <a:r>
              <a:t>  - Total HTTP request counters</a:t>
            </a:r>
            <a:br/>
            <a:r>
              <a:t>  - Model inference latency histograms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Pipeline Metrics tracked:</a:t>
            </a:r>
            <a:br/>
            <a:r>
              <a:t>  - Total anomalies blocked</a:t>
            </a:r>
            <a:br/>
            <a:r>
              <a:t>  - Anomaly score levels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029200" cy="43891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 algn="ctr">
              <a:spcAft>
                <a:spcPts val="1500"/>
              </a:spcAft>
              <a:defRPr sz="2200" b="1">
                <a:solidFill>
                  <a:srgbClr val="34D399"/>
                </a:solidFill>
                <a:latin typeface="Arial"/>
              </a:defRPr>
            </a:pPr>
            <a:r>
              <a:t>Grafana Demonstration Panels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Importable Dashboard: Supported via pre-defined config/grafana-dashboard.json containing panels.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KPI Visualizations:</a:t>
            </a:r>
            <a:br/>
            <a:r>
              <a:t>  - Model Status Card (Green/Red Active status)</a:t>
            </a:r>
            <a:br/>
            <a:r>
              <a:t>  - p99 Latency Gauge (ms resolution)</a:t>
            </a:r>
          </a:p>
          <a:p>
            <a:pPr>
              <a:spcAft>
                <a:spcPts val="1000"/>
              </a:spcAft>
              <a:defRPr sz="1300">
                <a:solidFill>
                  <a:srgbClr val="F8FAFC"/>
                </a:solidFill>
                <a:latin typeface="Arial"/>
              </a:defRPr>
            </a:pPr>
            <a:r>
              <a:t>• Trend Analytics:</a:t>
            </a:r>
            <a:br/>
            <a:r>
              <a:t>  - Throughput line charts (Total vs Anomaly)</a:t>
            </a:r>
            <a:br/>
            <a:r>
              <a:t>  - Real-time anomaly rate metrics (Percentage)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Arial"/>
              </a:defRPr>
            </a:pPr>
            <a:r>
              <a:t>MLOPS FRAUD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Arial"/>
              </a:defRPr>
            </a:pPr>
            <a:r>
              <a:t>Cloud Infrastructure (GCP &amp; Terraform)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45920"/>
            <a:ext cx="10515600" cy="1005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sz="1600" b="1">
                <a:solidFill>
                  <a:srgbClr val="38BDF8"/>
                </a:solidFill>
                <a:latin typeface="Arial"/>
              </a:defRPr>
            </a:pPr>
            <a:r>
              <a:t>Terraform IaC Provisioning</a:t>
            </a:r>
          </a:p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Configures, builds, and maintains resources as code. Enables repeatable deployments in seconds.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788920"/>
            <a:ext cx="10515600" cy="1005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sz="1600" b="1">
                <a:solidFill>
                  <a:srgbClr val="F8FAFC"/>
                </a:solidFill>
                <a:latin typeface="Arial"/>
              </a:defRPr>
            </a:pPr>
            <a:r>
              <a:t>GCP Artifact Registry</a:t>
            </a:r>
          </a:p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Secure, private registry containing pipeline docker images. Dynamically maps tags for rollout stability.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931920"/>
            <a:ext cx="10515600" cy="1005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sz="1600" b="1">
                <a:solidFill>
                  <a:srgbClr val="38BDF8"/>
                </a:solidFill>
                <a:latin typeface="Arial"/>
              </a:defRPr>
            </a:pPr>
            <a:r>
              <a:t>GCP Cloud Run Serverless Deploy</a:t>
            </a:r>
          </a:p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Hosts the FastAPI API container. Automatically scales down to zero when idle to eliminate hosting costs.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5074920"/>
            <a:ext cx="10515600" cy="10058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sz="1600" b="1">
                <a:solidFill>
                  <a:srgbClr val="F8FAFC"/>
                </a:solidFill>
                <a:latin typeface="Arial"/>
              </a:defRPr>
            </a:pPr>
            <a:r>
              <a:t>deploy_gcp.py Automation</a:t>
            </a:r>
          </a:p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A wrapper python script utilizing gcloud CLI that builds, authenticates, and rolls out services to Google Cloud in a single execution.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